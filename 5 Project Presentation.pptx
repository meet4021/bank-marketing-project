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1" r:id="rId4"/>
    <p:sldId id="262" r:id="rId5"/>
    <p:sldId id="260" r:id="rId6"/>
    <p:sldId id="264" r:id="rId7"/>
    <p:sldId id="267" r:id="rId8"/>
    <p:sldId id="266" r:id="rId9"/>
    <p:sldId id="268" r:id="rId10"/>
    <p:sldId id="269" r:id="rId11"/>
    <p:sldId id="272" r:id="rId12"/>
    <p:sldId id="271" r:id="rId13"/>
    <p:sldId id="270" r:id="rId14"/>
    <p:sldId id="273" r:id="rId15"/>
    <p:sldId id="274" r:id="rId16"/>
    <p:sldId id="277" r:id="rId17"/>
    <p:sldId id="27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265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822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44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99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225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144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9404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588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60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797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052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7E24A-9049-43D4-B8C1-1047B909CA15}" type="datetimeFigureOut">
              <a:rPr lang="en-CA" smtClean="0"/>
              <a:t>2019-05-07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AFB57-26FD-4A5F-A531-029339658F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959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archive.ics.uci.edu/ml/datasets/Bank+Market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Predictive Analytics for a Bank Marketing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1680" y="4941168"/>
            <a:ext cx="6728792" cy="1345704"/>
          </a:xfrm>
        </p:spPr>
        <p:txBody>
          <a:bodyPr>
            <a:normAutofit/>
          </a:bodyPr>
          <a:lstStyle/>
          <a:p>
            <a:endParaRPr lang="en-US" sz="1400" dirty="0" smtClean="0"/>
          </a:p>
          <a:p>
            <a:pPr algn="r"/>
            <a:r>
              <a:rPr lang="en-CA" sz="1400" dirty="0">
                <a:solidFill>
                  <a:schemeClr val="tx1"/>
                </a:solidFill>
              </a:rPr>
              <a:t>Robert Maheux</a:t>
            </a:r>
          </a:p>
          <a:p>
            <a:pPr algn="r"/>
            <a:r>
              <a:rPr lang="en-CA" sz="1400" dirty="0" smtClean="0">
                <a:solidFill>
                  <a:schemeClr val="tx1"/>
                </a:solidFill>
              </a:rPr>
              <a:t>April </a:t>
            </a:r>
            <a:r>
              <a:rPr lang="en-CA" sz="1400" dirty="0">
                <a:solidFill>
                  <a:schemeClr val="tx1"/>
                </a:solidFill>
              </a:rPr>
              <a:t>22 2019</a:t>
            </a: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64579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Problem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lnSpcReduction="10000"/>
          </a:bodyPr>
          <a:lstStyle/>
          <a:p>
            <a:r>
              <a:rPr lang="en-CA" sz="2400" dirty="0" smtClean="0"/>
              <a:t>The bank uses </a:t>
            </a:r>
            <a:r>
              <a:rPr lang="en-CA" sz="2400" dirty="0"/>
              <a:t>telemarketing </a:t>
            </a:r>
            <a:r>
              <a:rPr lang="en-CA" sz="2400" dirty="0" smtClean="0"/>
              <a:t>campaigns to </a:t>
            </a:r>
            <a:r>
              <a:rPr lang="en-CA" sz="2400" dirty="0"/>
              <a:t>increase the number of subscriptions to longer term investments such as term deposit bank </a:t>
            </a:r>
            <a:r>
              <a:rPr lang="en-CA" sz="2400" dirty="0" smtClean="0"/>
              <a:t>accounts.</a:t>
            </a:r>
          </a:p>
          <a:p>
            <a:endParaRPr lang="en-CA" sz="2400" dirty="0" smtClean="0"/>
          </a:p>
          <a:p>
            <a:r>
              <a:rPr lang="en-CA" sz="2400" dirty="0" smtClean="0"/>
              <a:t>Only 11% of </a:t>
            </a:r>
            <a:r>
              <a:rPr lang="en-CA" sz="2400" dirty="0"/>
              <a:t>the phone calls </a:t>
            </a:r>
            <a:r>
              <a:rPr lang="en-CA" sz="2400" dirty="0" smtClean="0"/>
              <a:t>yield positive results</a:t>
            </a:r>
            <a:r>
              <a:rPr lang="en-CA" sz="2400" dirty="0"/>
              <a:t>. </a:t>
            </a:r>
            <a:endParaRPr lang="en-CA" sz="2400" dirty="0" smtClean="0"/>
          </a:p>
          <a:p>
            <a:endParaRPr lang="en-CA" sz="2400" dirty="0" smtClean="0"/>
          </a:p>
          <a:p>
            <a:r>
              <a:rPr lang="en-CA" sz="2400" dirty="0" smtClean="0"/>
              <a:t>The </a:t>
            </a:r>
            <a:r>
              <a:rPr lang="en-CA" sz="2400" dirty="0"/>
              <a:t>bank could save time and money if it was able to focus its marketing efforts on the clients that are most likely to </a:t>
            </a:r>
            <a:r>
              <a:rPr lang="en-US" sz="2400" dirty="0"/>
              <a:t>open a term deposit bank account</a:t>
            </a:r>
            <a:r>
              <a:rPr lang="en-US" sz="2400" dirty="0" smtClean="0"/>
              <a:t>.</a:t>
            </a:r>
          </a:p>
          <a:p>
            <a:endParaRPr lang="en-CA" sz="2400" dirty="0"/>
          </a:p>
          <a:p>
            <a:r>
              <a:rPr lang="en-CA" sz="2400" dirty="0" smtClean="0"/>
              <a:t>A machine learning model would allow the bank to predict </a:t>
            </a:r>
            <a:r>
              <a:rPr lang="en-CA" sz="2400" dirty="0"/>
              <a:t>the outcome of the marketing campaign for each </a:t>
            </a:r>
            <a:r>
              <a:rPr lang="en-CA" sz="2400" dirty="0" smtClean="0"/>
              <a:t>client</a:t>
            </a:r>
            <a:r>
              <a:rPr lang="en-CA" sz="2400" dirty="0"/>
              <a:t> </a:t>
            </a:r>
            <a:r>
              <a:rPr lang="en-CA" sz="2400" dirty="0" smtClean="0"/>
              <a:t>and focus their effort accordingly.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85258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</a:t>
            </a:r>
            <a:endParaRPr lang="en-C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Obtained </a:t>
            </a:r>
            <a:r>
              <a:rPr lang="en-US" sz="2400" dirty="0"/>
              <a:t>from the web site for the </a:t>
            </a:r>
            <a:r>
              <a:rPr lang="en-CA" sz="2400" dirty="0"/>
              <a:t>UC Irvine Machine Learning Repository</a:t>
            </a:r>
            <a:r>
              <a:rPr lang="en-CA" sz="2400" b="1" dirty="0"/>
              <a:t>: </a:t>
            </a:r>
            <a:r>
              <a:rPr lang="en-US" sz="1900" u="sng" dirty="0">
                <a:hlinkClick r:id="rId2"/>
              </a:rPr>
              <a:t>http://archive.ics.uci.edu/ml/datasets/Bank+Marketing</a:t>
            </a:r>
            <a:r>
              <a:rPr lang="en-US" sz="19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Contains </a:t>
            </a:r>
            <a:r>
              <a:rPr lang="en-US" sz="2400" dirty="0"/>
              <a:t>observations </a:t>
            </a:r>
            <a:r>
              <a:rPr lang="en-CA" sz="2400" dirty="0" smtClean="0"/>
              <a:t>related </a:t>
            </a:r>
            <a:r>
              <a:rPr lang="en-CA" sz="2400" dirty="0"/>
              <a:t>to previous direct marketing campaigns based on phone calls to offer a term deposit bank </a:t>
            </a:r>
            <a:r>
              <a:rPr lang="en-CA" sz="2400" dirty="0" smtClean="0"/>
              <a:t>account.</a:t>
            </a:r>
          </a:p>
          <a:p>
            <a:pPr marL="0" indent="0">
              <a:buNone/>
            </a:pPr>
            <a:endParaRPr lang="en-CA" sz="2400" dirty="0" smtClean="0"/>
          </a:p>
          <a:p>
            <a:r>
              <a:rPr lang="en-CA" sz="2400" dirty="0" smtClean="0"/>
              <a:t>D</a:t>
            </a:r>
            <a:r>
              <a:rPr lang="en-US" sz="2400" dirty="0" err="1" smtClean="0"/>
              <a:t>ataset</a:t>
            </a:r>
            <a:r>
              <a:rPr lang="en-US" sz="2400" dirty="0" smtClean="0"/>
              <a:t> </a:t>
            </a:r>
            <a:r>
              <a:rPr lang="en-US" sz="2400" dirty="0"/>
              <a:t>was enriched by adding five social and economic features that </a:t>
            </a:r>
            <a:r>
              <a:rPr lang="en-US" sz="2400" dirty="0" smtClean="0"/>
              <a:t>wer</a:t>
            </a:r>
            <a:r>
              <a:rPr lang="en-US" sz="2400" dirty="0"/>
              <a:t>e published by the Banco de </a:t>
            </a:r>
            <a:r>
              <a:rPr lang="en-US" sz="2400" dirty="0" smtClean="0"/>
              <a:t>Portugal.</a:t>
            </a:r>
            <a:endParaRPr lang="en-CA" sz="2400" dirty="0"/>
          </a:p>
          <a:p>
            <a:endParaRPr lang="en-US" sz="2400" dirty="0" smtClean="0"/>
          </a:p>
          <a:p>
            <a:r>
              <a:rPr lang="en-CA" sz="2400" dirty="0"/>
              <a:t>Contains 41,188 observations with 21 </a:t>
            </a:r>
            <a:r>
              <a:rPr lang="en-CA" sz="2400" dirty="0" smtClean="0"/>
              <a:t>features.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42834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Dataset Features</a:t>
            </a:r>
            <a:endParaRPr lang="en-CA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1561080"/>
              </p:ext>
            </p:extLst>
          </p:nvPr>
        </p:nvGraphicFramePr>
        <p:xfrm>
          <a:off x="539552" y="1196752"/>
          <a:ext cx="8064897" cy="49685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4591"/>
                <a:gridCol w="942297"/>
                <a:gridCol w="4082295"/>
                <a:gridCol w="841861"/>
                <a:gridCol w="1883853"/>
              </a:tblGrid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Feature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Description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Type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Values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age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Age of client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17 to 98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job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Type of job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admin, blue-collar, technician…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marital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Marital status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divorced, married, single …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education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Education level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high.school, university.degree…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default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Does the client have credit in default?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yes, no, unknown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housing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Does the client have a housing loan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yes, no, unknown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loan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Does the client have a personal loan?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yes, no, unknown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contact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Contact communication type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cellular, telephone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month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Last contact month of the year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jan, feb, … dec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day_of_week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Last contact day of the week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mon, tue, … fri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duration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Last contact duration, measured in seconds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 to 4918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campaign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Number of contacts during this campaign for this client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 to 56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pdays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Number of days since client was last contacted for a previous campaign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 to 27,  999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14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previous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Number of contacts before this campaign for this client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0 to 7</a:t>
                      </a:r>
                      <a:endParaRPr lang="en-CA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15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poutcome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Outcome of the previous marketing campaign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failure, nonexistent, success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emp.var.rate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Employment variation rate - quarterly indicator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-3.4 to 1.4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17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cons.price.idx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Consumer price index - monthly indicator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92.201 to 94.767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18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cons.conf.idx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Consumer confidence index - monthly indicator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-50.8 to -26.9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19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euribor3m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Euribor 3 month rate - daily indicator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0.634 to 5.045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20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nr.employed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Number of employees - quarterly indicator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Numeric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4963.6 to 5228.1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5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outcome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900">
                          <a:effectLst/>
                        </a:rPr>
                        <a:t>Does client want a term deposit account?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Categorical</a:t>
                      </a:r>
                      <a:endParaRPr lang="en-CA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yes, no</a:t>
                      </a:r>
                      <a:endParaRPr lang="en-CA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4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  <a:r>
              <a:rPr lang="en-CA" dirty="0" smtClean="0"/>
              <a:t> </a:t>
            </a:r>
            <a:endParaRPr lang="en-CA" dirty="0"/>
          </a:p>
        </p:txBody>
      </p:sp>
      <p:sp>
        <p:nvSpPr>
          <p:cNvPr id="10" name="Rectangle 9"/>
          <p:cNvSpPr/>
          <p:nvPr/>
        </p:nvSpPr>
        <p:spPr>
          <a:xfrm>
            <a:off x="107504" y="836712"/>
            <a:ext cx="87849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Outliers were </a:t>
            </a:r>
            <a:r>
              <a:rPr lang="en-US" sz="2400" dirty="0" smtClean="0">
                <a:solidFill>
                  <a:srgbClr val="0000FF"/>
                </a:solidFill>
              </a:rPr>
              <a:t>Retained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CA" dirty="0" smtClean="0"/>
              <a:t>The </a:t>
            </a:r>
            <a:r>
              <a:rPr lang="en-CA" dirty="0"/>
              <a:t>“yes” outcomes </a:t>
            </a:r>
            <a:r>
              <a:rPr lang="en-CA" dirty="0" smtClean="0"/>
              <a:t>represented </a:t>
            </a:r>
            <a:r>
              <a:rPr lang="en-CA" dirty="0"/>
              <a:t>a mere 11% of the </a:t>
            </a:r>
            <a:r>
              <a:rPr lang="en-CA" dirty="0" smtClean="0"/>
              <a:t>dataset so </a:t>
            </a:r>
            <a:r>
              <a:rPr lang="en-CA" dirty="0"/>
              <a:t>it </a:t>
            </a:r>
            <a:r>
              <a:rPr lang="en-CA" dirty="0" smtClean="0"/>
              <a:t>was important </a:t>
            </a:r>
            <a:r>
              <a:rPr lang="en-CA" dirty="0"/>
              <a:t>to keep </a:t>
            </a:r>
            <a:r>
              <a:rPr lang="en-CA" dirty="0" smtClean="0"/>
              <a:t>them.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CA" dirty="0"/>
              <a:t>Outliers contained legitimate values and valuable information</a:t>
            </a:r>
            <a:r>
              <a:rPr lang="en-CA" dirty="0" smtClean="0"/>
              <a:t>.</a:t>
            </a:r>
            <a:endParaRPr lang="en-CA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Cleaning and Preparation</a:t>
            </a:r>
            <a:endParaRPr lang="en-C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528" y="2283262"/>
            <a:ext cx="5281736" cy="20506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99" y="4365104"/>
            <a:ext cx="5311465" cy="237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5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521744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solidFill>
                  <a:srgbClr val="0000FF"/>
                </a:solidFill>
              </a:rPr>
              <a:t>Unspecified Values Were </a:t>
            </a:r>
            <a:r>
              <a:rPr lang="en-US" sz="2400" u="sng" dirty="0" smtClean="0">
                <a:solidFill>
                  <a:srgbClr val="0000FF"/>
                </a:solidFill>
              </a:rPr>
              <a:t>Not</a:t>
            </a:r>
            <a:r>
              <a:rPr lang="en-US" sz="2400" dirty="0" smtClean="0">
                <a:solidFill>
                  <a:srgbClr val="0000FF"/>
                </a:solidFill>
              </a:rPr>
              <a:t> Imputed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No missing values but many </a:t>
            </a:r>
            <a:r>
              <a:rPr lang="en-US" sz="2000" dirty="0"/>
              <a:t>had been entered </a:t>
            </a:r>
            <a:r>
              <a:rPr lang="en-US" sz="2000" dirty="0" smtClean="0"/>
              <a:t>as ‘</a:t>
            </a:r>
            <a:r>
              <a:rPr lang="en-US" sz="2000" i="1" dirty="0" smtClean="0"/>
              <a:t>unknown</a:t>
            </a:r>
            <a:r>
              <a:rPr lang="en-US" sz="2000" i="1" dirty="0"/>
              <a:t>’</a:t>
            </a:r>
            <a:r>
              <a:rPr lang="en-US" sz="2000" dirty="0"/>
              <a:t> or ‘</a:t>
            </a:r>
            <a:r>
              <a:rPr lang="en-US" sz="2000" i="1" dirty="0"/>
              <a:t>999’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Reason </a:t>
            </a:r>
            <a:r>
              <a:rPr lang="en-US" sz="2000" dirty="0"/>
              <a:t>for the values being unspecified was </a:t>
            </a:r>
            <a:r>
              <a:rPr lang="en-US" sz="2000" dirty="0" smtClean="0"/>
              <a:t>unknown.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Values were not imputed. The ‘</a:t>
            </a:r>
            <a:r>
              <a:rPr lang="en-US" sz="2000" i="1" dirty="0"/>
              <a:t>unknown’</a:t>
            </a:r>
            <a:r>
              <a:rPr lang="en-US" sz="2000" dirty="0"/>
              <a:t> or ‘</a:t>
            </a:r>
            <a:r>
              <a:rPr lang="en-US" sz="2000" i="1" dirty="0"/>
              <a:t>999</a:t>
            </a:r>
            <a:r>
              <a:rPr lang="en-US" sz="2000" i="1" dirty="0" smtClean="0"/>
              <a:t>’</a:t>
            </a:r>
            <a:r>
              <a:rPr lang="en-US" sz="2000" dirty="0" smtClean="0"/>
              <a:t> values were treated as just </a:t>
            </a:r>
            <a:r>
              <a:rPr lang="en-US" sz="2000" dirty="0"/>
              <a:t>another value for the </a:t>
            </a:r>
            <a:r>
              <a:rPr lang="en-US" sz="2000"/>
              <a:t>categorical </a:t>
            </a:r>
            <a:r>
              <a:rPr lang="en-US" sz="2000" smtClean="0"/>
              <a:t>variables.</a:t>
            </a:r>
            <a:endParaRPr lang="en-US" sz="2000" dirty="0" smtClean="0"/>
          </a:p>
          <a:p>
            <a:endParaRPr lang="en-CA" sz="2400" dirty="0"/>
          </a:p>
          <a:p>
            <a:r>
              <a:rPr lang="en-CA" sz="2400" dirty="0" smtClean="0">
                <a:solidFill>
                  <a:srgbClr val="0000FF"/>
                </a:solidFill>
              </a:rPr>
              <a:t>Categorical </a:t>
            </a:r>
            <a:r>
              <a:rPr lang="en-CA" sz="2400" dirty="0">
                <a:solidFill>
                  <a:srgbClr val="0000FF"/>
                </a:solidFill>
              </a:rPr>
              <a:t>values </a:t>
            </a:r>
            <a:r>
              <a:rPr lang="en-CA" sz="2400" dirty="0" smtClean="0">
                <a:solidFill>
                  <a:srgbClr val="0000FF"/>
                </a:solidFill>
              </a:rPr>
              <a:t>were converted </a:t>
            </a:r>
            <a:r>
              <a:rPr lang="en-CA" sz="2400" dirty="0">
                <a:solidFill>
                  <a:srgbClr val="0000FF"/>
                </a:solidFill>
              </a:rPr>
              <a:t>into numerical </a:t>
            </a:r>
            <a:r>
              <a:rPr lang="en-CA" sz="2400" dirty="0" smtClean="0">
                <a:solidFill>
                  <a:srgbClr val="0000FF"/>
                </a:solidFill>
              </a:rPr>
              <a:t>values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sz="2000" dirty="0" smtClean="0"/>
              <a:t>Allowed them to be </a:t>
            </a:r>
            <a:r>
              <a:rPr lang="en-CA" sz="2000" dirty="0"/>
              <a:t>used by machine learning </a:t>
            </a:r>
            <a:r>
              <a:rPr lang="en-CA" sz="2000" dirty="0" smtClean="0"/>
              <a:t>algorithms.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sz="2000" dirty="0"/>
              <a:t>T</a:t>
            </a:r>
            <a:r>
              <a:rPr lang="en-CA" sz="2000" dirty="0" smtClean="0"/>
              <a:t>he </a:t>
            </a:r>
            <a:r>
              <a:rPr lang="en-CA" sz="2000" i="1" dirty="0"/>
              <a:t>one-hot</a:t>
            </a:r>
            <a:r>
              <a:rPr lang="en-CA" sz="2000" dirty="0"/>
              <a:t> encoding method </a:t>
            </a:r>
            <a:r>
              <a:rPr lang="en-CA" sz="2000" dirty="0" smtClean="0"/>
              <a:t>was used to </a:t>
            </a:r>
            <a:r>
              <a:rPr lang="en-CA" sz="2000" dirty="0"/>
              <a:t>separate the values into individual columns and convert them into </a:t>
            </a:r>
            <a:r>
              <a:rPr lang="en-CA" sz="2000" dirty="0" smtClean="0"/>
              <a:t>‘1’ </a:t>
            </a:r>
            <a:r>
              <a:rPr lang="en-CA" sz="2000" dirty="0"/>
              <a:t>or </a:t>
            </a:r>
            <a:r>
              <a:rPr lang="en-CA" sz="2000" dirty="0" smtClean="0"/>
              <a:t>‘0’.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The number of </a:t>
            </a:r>
            <a:r>
              <a:rPr lang="en-US" sz="2000" dirty="0"/>
              <a:t>features increased from </a:t>
            </a:r>
            <a:r>
              <a:rPr lang="en-US" sz="2000" dirty="0" smtClean="0"/>
              <a:t>21 to 51.</a:t>
            </a:r>
          </a:p>
          <a:p>
            <a:endParaRPr lang="en-CA" sz="2400" dirty="0" smtClean="0"/>
          </a:p>
          <a:p>
            <a:r>
              <a:rPr lang="en-CA" sz="2400" dirty="0" smtClean="0">
                <a:solidFill>
                  <a:srgbClr val="0000FF"/>
                </a:solidFill>
              </a:rPr>
              <a:t>Data was </a:t>
            </a:r>
            <a:r>
              <a:rPr lang="en-CA" sz="2400" dirty="0">
                <a:solidFill>
                  <a:srgbClr val="0000FF"/>
                </a:solidFill>
              </a:rPr>
              <a:t>standardized </a:t>
            </a:r>
            <a:r>
              <a:rPr lang="en-CA" sz="2400" dirty="0"/>
              <a:t>so that each feature </a:t>
            </a:r>
            <a:r>
              <a:rPr lang="en-CA" sz="2400" dirty="0" smtClean="0"/>
              <a:t>had </a:t>
            </a:r>
            <a:r>
              <a:rPr lang="en-CA" sz="2400" dirty="0"/>
              <a:t>its’ mean = 0 and its’ standard deviation = </a:t>
            </a:r>
            <a:r>
              <a:rPr lang="en-CA" sz="2400" dirty="0" smtClean="0"/>
              <a:t>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sz="2000" dirty="0" smtClean="0"/>
              <a:t>This was to prevent </a:t>
            </a:r>
            <a:r>
              <a:rPr lang="en-CA" sz="2000" dirty="0"/>
              <a:t>some features being weighted more than </a:t>
            </a:r>
            <a:r>
              <a:rPr lang="en-CA" sz="2000" dirty="0" smtClean="0"/>
              <a:t>others.</a:t>
            </a:r>
            <a:endParaRPr lang="en-CA" sz="2000" dirty="0"/>
          </a:p>
          <a:p>
            <a:endParaRPr lang="en-C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Cleaning and Preparation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032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7520" y="908720"/>
            <a:ext cx="856895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FF"/>
                </a:solidFill>
              </a:rPr>
              <a:t>Imbalanced </a:t>
            </a:r>
            <a:r>
              <a:rPr lang="en-US" sz="2400" dirty="0" smtClean="0">
                <a:solidFill>
                  <a:srgbClr val="0000FF"/>
                </a:solidFill>
              </a:rPr>
              <a:t>distribution </a:t>
            </a:r>
            <a:r>
              <a:rPr lang="en-US" sz="2400" dirty="0">
                <a:solidFill>
                  <a:srgbClr val="0000FF"/>
                </a:solidFill>
              </a:rPr>
              <a:t>of </a:t>
            </a:r>
            <a:r>
              <a:rPr lang="en-US" sz="2400" dirty="0" smtClean="0">
                <a:solidFill>
                  <a:srgbClr val="0000FF"/>
                </a:solidFill>
              </a:rPr>
              <a:t>the outcomes was resolved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 smtClean="0"/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smtClean="0"/>
              <a:t>Only </a:t>
            </a:r>
            <a:r>
              <a:rPr lang="en-US" dirty="0"/>
              <a:t>11% of the observations had an outcome of “yes</a:t>
            </a:r>
            <a:r>
              <a:rPr lang="en-US" dirty="0" smtClean="0"/>
              <a:t>”.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 smtClean="0"/>
              <a:t>Many </a:t>
            </a:r>
            <a:r>
              <a:rPr lang="en-US" dirty="0"/>
              <a:t>classification algorithms struggle with imbalanced </a:t>
            </a:r>
            <a:r>
              <a:rPr lang="en-US" dirty="0" smtClean="0"/>
              <a:t>data.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CA" dirty="0" smtClean="0"/>
              <a:t>Resolved </a:t>
            </a:r>
            <a:r>
              <a:rPr lang="en-CA" dirty="0"/>
              <a:t>by using a technique called </a:t>
            </a:r>
            <a:r>
              <a:rPr lang="en-CA" i="1" dirty="0" smtClean="0"/>
              <a:t>under-sampling</a:t>
            </a:r>
            <a:r>
              <a:rPr lang="en-CA" dirty="0" smtClean="0"/>
              <a:t>.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CA" dirty="0" smtClean="0"/>
              <a:t>Resulting </a:t>
            </a:r>
            <a:r>
              <a:rPr lang="en-CA" dirty="0"/>
              <a:t>dataset </a:t>
            </a:r>
            <a:r>
              <a:rPr lang="en-CA" dirty="0" smtClean="0"/>
              <a:t>contained </a:t>
            </a:r>
            <a:r>
              <a:rPr lang="en-CA" dirty="0"/>
              <a:t>9280 observations with an equal number of “yes” and “no” outcomes.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 Cleaning and Preparation</a:t>
            </a:r>
            <a:endParaRPr lang="en-CA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573016"/>
            <a:ext cx="6554351" cy="3096344"/>
          </a:xfrm>
        </p:spPr>
      </p:pic>
    </p:spTree>
    <p:extLst>
      <p:ext uri="{BB962C8B-B14F-4D97-AF65-F5344CB8AC3E}">
        <p14:creationId xmlns:p14="http://schemas.microsoft.com/office/powerpoint/2010/main" val="171508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7500" lnSpcReduction="20000"/>
          </a:bodyPr>
          <a:lstStyle/>
          <a:p>
            <a:r>
              <a:rPr lang="en-CA" i="1" dirty="0"/>
              <a:t>Primary Component Analysis</a:t>
            </a:r>
            <a:r>
              <a:rPr lang="en-CA" dirty="0"/>
              <a:t> (PCA) method was applied to the </a:t>
            </a:r>
            <a:r>
              <a:rPr lang="en-CA" dirty="0" smtClean="0"/>
              <a:t>dataset.</a:t>
            </a:r>
          </a:p>
          <a:p>
            <a:endParaRPr lang="en-CA" dirty="0" smtClean="0"/>
          </a:p>
          <a:p>
            <a:r>
              <a:rPr lang="en-CA" dirty="0" smtClean="0"/>
              <a:t>PCA indicated that it would </a:t>
            </a:r>
            <a:r>
              <a:rPr lang="en-CA" dirty="0"/>
              <a:t>take 37 generic components to explain at least 95% of the variance</a:t>
            </a:r>
            <a:r>
              <a:rPr lang="en-CA" dirty="0" smtClean="0"/>
              <a:t>. (Only 14 features would be removed).</a:t>
            </a:r>
          </a:p>
          <a:p>
            <a:endParaRPr lang="en-CA" dirty="0" smtClean="0"/>
          </a:p>
          <a:p>
            <a:r>
              <a:rPr lang="en-US" dirty="0" smtClean="0"/>
              <a:t>Individual </a:t>
            </a:r>
            <a:r>
              <a:rPr lang="en-US" dirty="0"/>
              <a:t>features </a:t>
            </a:r>
            <a:r>
              <a:rPr lang="en-US" dirty="0" smtClean="0"/>
              <a:t>would be </a:t>
            </a:r>
            <a:r>
              <a:rPr lang="en-US" dirty="0"/>
              <a:t>replaced with generic </a:t>
            </a:r>
            <a:r>
              <a:rPr lang="en-US" dirty="0" smtClean="0"/>
              <a:t>components.</a:t>
            </a:r>
            <a:r>
              <a:rPr lang="en-US" dirty="0"/>
              <a:t> </a:t>
            </a:r>
            <a:r>
              <a:rPr lang="en-US" dirty="0" smtClean="0"/>
              <a:t>i.e. – Loss of ability to interpret </a:t>
            </a:r>
            <a:r>
              <a:rPr lang="en-US" dirty="0"/>
              <a:t>how </a:t>
            </a:r>
            <a:r>
              <a:rPr lang="en-US" dirty="0" smtClean="0"/>
              <a:t>individual </a:t>
            </a:r>
            <a:r>
              <a:rPr lang="en-US" dirty="0"/>
              <a:t>features contributed to the </a:t>
            </a:r>
            <a:r>
              <a:rPr lang="en-US" dirty="0" smtClean="0"/>
              <a:t>outcomes.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PCA </a:t>
            </a:r>
            <a:r>
              <a:rPr lang="en-US" dirty="0">
                <a:solidFill>
                  <a:srgbClr val="0000FF"/>
                </a:solidFill>
              </a:rPr>
              <a:t>technique offered little benefit for the bank marketing dataset.</a:t>
            </a:r>
            <a:endParaRPr lang="en-CA" dirty="0">
              <a:solidFill>
                <a:srgbClr val="0000FF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Reduction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7569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32656"/>
            <a:ext cx="8712968" cy="619268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Reduction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213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14408"/>
            <a:ext cx="8640000" cy="6264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Reduction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6670472" y="3717032"/>
            <a:ext cx="201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15 least important features were discarded.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034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Predictive</a:t>
            </a:r>
            <a:r>
              <a:rPr lang="en-US" dirty="0" smtClean="0"/>
              <a:t> Models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 smtClean="0"/>
              <a:t>Four types of machine learning models were implemented, evaluated and compared: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Logistic Regression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Random Decision Forest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K-Nearest Neighbours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Support Vector </a:t>
            </a:r>
            <a:r>
              <a:rPr lang="en-US" dirty="0" smtClean="0">
                <a:solidFill>
                  <a:srgbClr val="0000FF"/>
                </a:solidFill>
              </a:rPr>
              <a:t>Classification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Algorithms were selected according to their suitability to classification problems with a binomial outcome (“yes” or “no”).</a:t>
            </a:r>
          </a:p>
          <a:p>
            <a:pPr>
              <a:spcBef>
                <a:spcPts val="1200"/>
              </a:spcBef>
            </a:pPr>
            <a:r>
              <a:rPr lang="en-US" i="1" dirty="0"/>
              <a:t>Python</a:t>
            </a:r>
            <a:r>
              <a:rPr lang="en-US" dirty="0"/>
              <a:t> programming language was used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sz="12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105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US" dirty="0" smtClean="0"/>
              <a:t>Models were evaluated </a:t>
            </a:r>
            <a:r>
              <a:rPr lang="en-US" dirty="0"/>
              <a:t>and compared using </a:t>
            </a:r>
            <a:r>
              <a:rPr lang="en-US" dirty="0" smtClean="0"/>
              <a:t>six </a:t>
            </a:r>
            <a:r>
              <a:rPr lang="en-US" dirty="0"/>
              <a:t>metrics </a:t>
            </a:r>
            <a:r>
              <a:rPr lang="en-US" dirty="0" smtClean="0"/>
              <a:t>suitable </a:t>
            </a:r>
            <a:r>
              <a:rPr lang="en-US" dirty="0"/>
              <a:t>for classification </a:t>
            </a:r>
            <a:r>
              <a:rPr lang="en-US" dirty="0" smtClean="0"/>
              <a:t>algorithms:</a:t>
            </a:r>
          </a:p>
          <a:p>
            <a:pPr marL="0" indent="0">
              <a:spcBef>
                <a:spcPts val="1200"/>
              </a:spcBef>
              <a:buNone/>
            </a:pPr>
            <a:endParaRPr lang="en-US" sz="800" dirty="0" smtClean="0"/>
          </a:p>
          <a:p>
            <a:pPr marL="1314450" lvl="2" indent="-514350">
              <a:buFont typeface="+mj-lt"/>
              <a:buAutoNum type="arabicPeriod"/>
            </a:pPr>
            <a:r>
              <a:rPr lang="en-US" dirty="0" smtClean="0">
                <a:solidFill>
                  <a:srgbClr val="0000FF"/>
                </a:solidFill>
              </a:rPr>
              <a:t>Accuracy Score</a:t>
            </a:r>
            <a:endParaRPr lang="en-US" dirty="0">
              <a:solidFill>
                <a:srgbClr val="0000FF"/>
              </a:solidFill>
            </a:endParaRPr>
          </a:p>
          <a:p>
            <a:pPr marL="1314450" lvl="2" indent="-514350">
              <a:buFont typeface="+mj-lt"/>
              <a:buAutoNum type="arabicPeriod"/>
            </a:pPr>
            <a:r>
              <a:rPr lang="en-US" dirty="0" smtClean="0">
                <a:solidFill>
                  <a:srgbClr val="0000FF"/>
                </a:solidFill>
              </a:rPr>
              <a:t>Precision Score</a:t>
            </a:r>
            <a:endParaRPr lang="en-US" dirty="0">
              <a:solidFill>
                <a:srgbClr val="0000FF"/>
              </a:solidFill>
            </a:endParaRPr>
          </a:p>
          <a:p>
            <a:pPr marL="1314450" lvl="2" indent="-514350">
              <a:buFont typeface="+mj-lt"/>
              <a:buAutoNum type="arabicPeriod"/>
            </a:pPr>
            <a:r>
              <a:rPr lang="en-US" dirty="0" smtClean="0">
                <a:solidFill>
                  <a:srgbClr val="0000FF"/>
                </a:solidFill>
              </a:rPr>
              <a:t>Recall Score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 smtClean="0">
                <a:solidFill>
                  <a:srgbClr val="0000FF"/>
                </a:solidFill>
              </a:rPr>
              <a:t>F1 Score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Area under the ROC Curve (AUC) using Predicted Values</a:t>
            </a:r>
          </a:p>
          <a:p>
            <a:pPr marL="1314450" lvl="2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Area under the ROC Curve (AUC) using </a:t>
            </a:r>
            <a:r>
              <a:rPr lang="en-US" dirty="0" smtClean="0">
                <a:solidFill>
                  <a:srgbClr val="0000FF"/>
                </a:solidFill>
              </a:rPr>
              <a:t>Probabilities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/>
              <a:t>Predictive</a:t>
            </a:r>
            <a:r>
              <a:rPr lang="en-US" dirty="0" smtClean="0"/>
              <a:t> Models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754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US" dirty="0" smtClean="0"/>
              <a:t>Model Performance</a:t>
            </a:r>
            <a:endParaRPr lang="en-CA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60848"/>
            <a:ext cx="8280920" cy="2160240"/>
          </a:xfrm>
        </p:spPr>
      </p:pic>
      <p:sp>
        <p:nvSpPr>
          <p:cNvPr id="9" name="Rectangle 8"/>
          <p:cNvSpPr/>
          <p:nvPr/>
        </p:nvSpPr>
        <p:spPr>
          <a:xfrm>
            <a:off x="755576" y="1268760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scores for each </a:t>
            </a:r>
            <a:r>
              <a:rPr lang="en-US" dirty="0" smtClean="0"/>
              <a:t>metric </a:t>
            </a:r>
            <a:r>
              <a:rPr lang="en-US" dirty="0"/>
              <a:t>are shaded in green.  The second highest scores are shaded in yellow.</a:t>
            </a:r>
            <a:endParaRPr lang="en-CA" dirty="0"/>
          </a:p>
        </p:txBody>
      </p:sp>
      <p:sp>
        <p:nvSpPr>
          <p:cNvPr id="10" name="Rectangle 9"/>
          <p:cNvSpPr/>
          <p:nvPr/>
        </p:nvSpPr>
        <p:spPr>
          <a:xfrm>
            <a:off x="666416" y="4509120"/>
            <a:ext cx="77768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Repeated testing using different samples for the training/testing sets yielded to the same conclusion.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overall scores in the table indicate that the </a:t>
            </a:r>
            <a:r>
              <a:rPr lang="en-US" b="1" dirty="0">
                <a:solidFill>
                  <a:srgbClr val="0000FF"/>
                </a:solidFill>
              </a:rPr>
              <a:t>Support Vector model</a:t>
            </a:r>
            <a:r>
              <a:rPr lang="en-US" dirty="0"/>
              <a:t> is a strong performer, closely followed by the Random Forest </a:t>
            </a:r>
            <a:r>
              <a:rPr lang="en-US" dirty="0" smtClean="0"/>
              <a:t>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worst performer is the model using the K-Nearest Neighbours algorithm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681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92500"/>
          </a:bodyPr>
          <a:lstStyle/>
          <a:p>
            <a:r>
              <a:rPr lang="en-CA" dirty="0"/>
              <a:t>The F1 score for the Support Vector model is </a:t>
            </a:r>
            <a:r>
              <a:rPr lang="en-CA" dirty="0" smtClean="0">
                <a:solidFill>
                  <a:srgbClr val="0000FF"/>
                </a:solidFill>
              </a:rPr>
              <a:t>88.11%. </a:t>
            </a:r>
            <a:r>
              <a:rPr lang="en-CA" dirty="0" smtClean="0"/>
              <a:t>It’s a </a:t>
            </a:r>
            <a:r>
              <a:rPr lang="en-CA" dirty="0"/>
              <a:t>very good score without being </a:t>
            </a:r>
            <a:r>
              <a:rPr lang="en-CA" i="1" dirty="0"/>
              <a:t>too </a:t>
            </a:r>
            <a:r>
              <a:rPr lang="en-CA" i="1" dirty="0" smtClean="0"/>
              <a:t>good</a:t>
            </a:r>
            <a:r>
              <a:rPr lang="en-CA" dirty="0"/>
              <a:t> </a:t>
            </a:r>
            <a:r>
              <a:rPr lang="en-CA" dirty="0" smtClean="0"/>
              <a:t>(which </a:t>
            </a:r>
            <a:r>
              <a:rPr lang="en-CA" dirty="0"/>
              <a:t>would have indicated </a:t>
            </a:r>
            <a:r>
              <a:rPr lang="en-CA" dirty="0" smtClean="0"/>
              <a:t>overfitting).</a:t>
            </a:r>
            <a:endParaRPr lang="en-CA" dirty="0"/>
          </a:p>
          <a:p>
            <a:pPr marL="0" indent="0">
              <a:buNone/>
            </a:pPr>
            <a:endParaRPr lang="en-CA" sz="1500" dirty="0" smtClean="0"/>
          </a:p>
          <a:p>
            <a:r>
              <a:rPr lang="en-US" dirty="0" smtClean="0"/>
              <a:t>Some </a:t>
            </a:r>
            <a:r>
              <a:rPr lang="en-US" dirty="0"/>
              <a:t>techniques </a:t>
            </a:r>
            <a:r>
              <a:rPr lang="en-US" dirty="0" smtClean="0"/>
              <a:t>can </a:t>
            </a:r>
            <a:r>
              <a:rPr lang="en-US" dirty="0"/>
              <a:t>be used to see if one of the models can be improved so that it consistently outperforms the </a:t>
            </a:r>
            <a:r>
              <a:rPr lang="en-US" dirty="0" smtClean="0"/>
              <a:t>others: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smtClean="0"/>
              <a:t> Tuning </a:t>
            </a:r>
            <a:r>
              <a:rPr lang="en-US" dirty="0"/>
              <a:t>the model parameters (amount of tree </a:t>
            </a:r>
            <a:r>
              <a:rPr lang="en-US" dirty="0" smtClean="0"/>
              <a:t>pruning, number </a:t>
            </a:r>
            <a:r>
              <a:rPr lang="en-US" dirty="0"/>
              <a:t>of nearest </a:t>
            </a:r>
            <a:r>
              <a:rPr lang="en-US" dirty="0" err="1"/>
              <a:t>neighbours</a:t>
            </a:r>
            <a:r>
              <a:rPr lang="en-US" dirty="0"/>
              <a:t> used</a:t>
            </a:r>
            <a:r>
              <a:rPr lang="en-US" dirty="0" smtClean="0"/>
              <a:t>…).</a:t>
            </a:r>
            <a:endParaRPr lang="en-CA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smtClean="0"/>
              <a:t> Removing </a:t>
            </a:r>
            <a:r>
              <a:rPr lang="en-US" dirty="0"/>
              <a:t>some of the independent variables being </a:t>
            </a:r>
            <a:r>
              <a:rPr lang="en-US" dirty="0" smtClean="0"/>
              <a:t>used.</a:t>
            </a:r>
            <a:endParaRPr lang="en-CA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smtClean="0"/>
              <a:t> Using </a:t>
            </a:r>
            <a:r>
              <a:rPr lang="en-US" dirty="0"/>
              <a:t>boosting </a:t>
            </a:r>
            <a:r>
              <a:rPr lang="en-US" dirty="0" smtClean="0"/>
              <a:t>algorithms.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US" dirty="0" smtClean="0"/>
              <a:t>Model Performance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1928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400600"/>
          </a:xfrm>
        </p:spPr>
        <p:txBody>
          <a:bodyPr>
            <a:normAutofit lnSpcReduction="10000"/>
          </a:bodyPr>
          <a:lstStyle/>
          <a:p>
            <a:endParaRPr lang="en-CA" sz="800" dirty="0" smtClean="0"/>
          </a:p>
          <a:p>
            <a:r>
              <a:rPr lang="en-US" sz="2400" dirty="0" smtClean="0"/>
              <a:t>Analysis produced </a:t>
            </a:r>
            <a:r>
              <a:rPr lang="en-US" sz="2400" dirty="0" smtClean="0">
                <a:solidFill>
                  <a:srgbClr val="0000FF"/>
                </a:solidFill>
              </a:rPr>
              <a:t>valuable insights on the influence of the data features</a:t>
            </a:r>
            <a:r>
              <a:rPr lang="en-US" sz="2400" dirty="0" smtClean="0"/>
              <a:t> such as: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2000" dirty="0" smtClean="0"/>
              <a:t>Highest </a:t>
            </a:r>
            <a:r>
              <a:rPr lang="en-CA" sz="2000" dirty="0"/>
              <a:t>ratio of “yes” </a:t>
            </a:r>
            <a:r>
              <a:rPr lang="en-CA" sz="2000" dirty="0" smtClean="0"/>
              <a:t>outcomes</a:t>
            </a:r>
            <a:r>
              <a:rPr lang="en-CA" sz="2000" dirty="0"/>
              <a:t> </a:t>
            </a:r>
            <a:r>
              <a:rPr lang="en-CA" sz="2000" dirty="0" smtClean="0"/>
              <a:t>for:</a:t>
            </a:r>
          </a:p>
          <a:p>
            <a:pPr lvl="2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1600" dirty="0" smtClean="0"/>
              <a:t>Clients younger </a:t>
            </a:r>
            <a:r>
              <a:rPr lang="en-CA" sz="1600" dirty="0"/>
              <a:t>than 25 or older than </a:t>
            </a:r>
            <a:r>
              <a:rPr lang="en-CA" sz="1600" dirty="0" smtClean="0"/>
              <a:t>60</a:t>
            </a:r>
          </a:p>
          <a:p>
            <a:pPr lvl="2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1600" dirty="0" smtClean="0"/>
              <a:t>Clients that had several previous contacts with the bank</a:t>
            </a:r>
          </a:p>
          <a:p>
            <a:pPr lvl="2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1600" dirty="0"/>
              <a:t>Calls with highest </a:t>
            </a:r>
            <a:r>
              <a:rPr lang="en-CA" sz="1600" dirty="0" smtClean="0"/>
              <a:t>duration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2000" dirty="0" smtClean="0"/>
              <a:t>Best </a:t>
            </a:r>
            <a:r>
              <a:rPr lang="en-CA" sz="2000" dirty="0"/>
              <a:t>time to run this type of campaign is </a:t>
            </a:r>
            <a:r>
              <a:rPr lang="en-CA" sz="2000" dirty="0" smtClean="0"/>
              <a:t>when:</a:t>
            </a:r>
          </a:p>
          <a:p>
            <a:pPr lvl="2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1600" dirty="0" smtClean="0"/>
              <a:t>Rates </a:t>
            </a:r>
            <a:r>
              <a:rPr lang="en-CA" sz="1600" dirty="0"/>
              <a:t>for the Euribor3M, NR Employed and Employee Variation are low</a:t>
            </a:r>
            <a:r>
              <a:rPr lang="en-CA" sz="1600" dirty="0" smtClean="0"/>
              <a:t>.</a:t>
            </a:r>
            <a:endParaRPr lang="en-CA" sz="1600" dirty="0"/>
          </a:p>
          <a:p>
            <a:pPr lvl="2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1600" dirty="0" smtClean="0"/>
              <a:t>During the months </a:t>
            </a:r>
            <a:r>
              <a:rPr lang="en-CA" sz="1600" dirty="0"/>
              <a:t>of March, September, October and </a:t>
            </a:r>
            <a:r>
              <a:rPr lang="en-CA" sz="1600" dirty="0" smtClean="0"/>
              <a:t>December.</a:t>
            </a:r>
          </a:p>
          <a:p>
            <a:pPr lvl="2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CA" sz="1600" dirty="0" smtClean="0"/>
              <a:t>(Worst time is between May and August).</a:t>
            </a:r>
          </a:p>
          <a:p>
            <a:pPr>
              <a:spcBef>
                <a:spcPts val="1200"/>
              </a:spcBef>
            </a:pPr>
            <a:r>
              <a:rPr lang="en-CA" sz="2400" dirty="0" smtClean="0"/>
              <a:t>A </a:t>
            </a:r>
            <a:r>
              <a:rPr lang="en-CA" sz="2400" dirty="0" smtClean="0">
                <a:solidFill>
                  <a:srgbClr val="0000FF"/>
                </a:solidFill>
              </a:rPr>
              <a:t>new machine </a:t>
            </a:r>
            <a:r>
              <a:rPr lang="en-CA" sz="2400" dirty="0">
                <a:solidFill>
                  <a:srgbClr val="0000FF"/>
                </a:solidFill>
              </a:rPr>
              <a:t>learning model </a:t>
            </a:r>
            <a:r>
              <a:rPr lang="en-CA" sz="2400" dirty="0" smtClean="0"/>
              <a:t>was created to allow </a:t>
            </a:r>
            <a:r>
              <a:rPr lang="en-CA" sz="2400" dirty="0"/>
              <a:t>the </a:t>
            </a:r>
            <a:r>
              <a:rPr lang="en-CA" sz="2400" dirty="0" smtClean="0"/>
              <a:t>marketing </a:t>
            </a:r>
            <a:r>
              <a:rPr lang="en-CA" sz="2400" dirty="0"/>
              <a:t>team to predict which clients are most likely to respond positively to the </a:t>
            </a:r>
            <a:r>
              <a:rPr lang="en-CA" sz="2400" dirty="0" smtClean="0"/>
              <a:t>marketing campaign.</a:t>
            </a:r>
            <a:endParaRPr lang="en-CA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US" dirty="0" smtClean="0"/>
              <a:t>Project Results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5363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new </a:t>
            </a:r>
            <a:r>
              <a:rPr lang="en-US" dirty="0" smtClean="0">
                <a:solidFill>
                  <a:srgbClr val="0000FF"/>
                </a:solidFill>
              </a:rPr>
              <a:t>insights </a:t>
            </a:r>
            <a:r>
              <a:rPr lang="en-US" dirty="0"/>
              <a:t>and the </a:t>
            </a:r>
            <a:r>
              <a:rPr lang="en-US" dirty="0">
                <a:solidFill>
                  <a:srgbClr val="0000FF"/>
                </a:solidFill>
              </a:rPr>
              <a:t>new predictive model</a:t>
            </a:r>
            <a:r>
              <a:rPr lang="en-US" dirty="0"/>
              <a:t> will allow the bank to save time and money by providing the marketing team with tools </a:t>
            </a:r>
            <a:r>
              <a:rPr lang="en-US" dirty="0" smtClean="0"/>
              <a:t>to </a:t>
            </a:r>
            <a:r>
              <a:rPr lang="en-US" dirty="0"/>
              <a:t>run more effective and efficient marketing campaigns.</a:t>
            </a:r>
            <a:endParaRPr lang="en-CA" dirty="0"/>
          </a:p>
          <a:p>
            <a:endParaRPr lang="en-C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US" dirty="0" smtClean="0"/>
              <a:t>Project Results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8993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Predictive Analytics for a Bank Marketing Campaign</a:t>
            </a:r>
          </a:p>
        </p:txBody>
      </p:sp>
    </p:spTree>
    <p:extLst>
      <p:ext uri="{BB962C8B-B14F-4D97-AF65-F5344CB8AC3E}">
        <p14:creationId xmlns:p14="http://schemas.microsoft.com/office/powerpoint/2010/main" val="375180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1198</Words>
  <Application>Microsoft Office PowerPoint</Application>
  <PresentationFormat>On-screen Show (4:3)</PresentationFormat>
  <Paragraphs>214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Predictive Analytics for a Bank Marketing Campaign</vt:lpstr>
      <vt:lpstr>Business Problem</vt:lpstr>
      <vt:lpstr>Dataset</vt:lpstr>
      <vt:lpstr>Dataset Features</vt:lpstr>
      <vt:lpstr>Data Cleaning and Preparation</vt:lpstr>
      <vt:lpstr>Data Cleaning and Preparation</vt:lpstr>
      <vt:lpstr>Data Cleaning and Preparation</vt:lpstr>
      <vt:lpstr>Feature Reduction</vt:lpstr>
      <vt:lpstr>Feature Reduction</vt:lpstr>
      <vt:lpstr>Feature Reduction</vt:lpstr>
      <vt:lpstr>Predictive Models</vt:lpstr>
      <vt:lpstr>PowerPoint Presentation</vt:lpstr>
      <vt:lpstr>Model Performance</vt:lpstr>
      <vt:lpstr>Model Performance</vt:lpstr>
      <vt:lpstr>Project Results</vt:lpstr>
      <vt:lpstr>Project Results</vt:lpstr>
      <vt:lpstr>Predictive Analytics for a Bank Marketing Campaign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</dc:creator>
  <cp:lastModifiedBy>Robert</cp:lastModifiedBy>
  <cp:revision>61</cp:revision>
  <dcterms:created xsi:type="dcterms:W3CDTF">2019-04-07T15:04:05Z</dcterms:created>
  <dcterms:modified xsi:type="dcterms:W3CDTF">2019-05-07T17:37:06Z</dcterms:modified>
</cp:coreProperties>
</file>